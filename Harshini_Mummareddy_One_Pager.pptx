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9104AD-DB69-4CF8-BD5C-0F5B8DCC03A2}" type="datetimeFigureOut"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74E6B-43C6-41A9-877F-D91B947D64F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518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46969-A67A-9A05-3EBD-04926C7B2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E5BBD-7278-ED8E-7E80-0BBEAA20B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0313B-27DB-BE01-A702-61794B21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8AF6-67B1-400C-AC3D-E9E3C4CD545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BAED8-C097-33F0-4D27-46E8B807D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38B88-AF95-E0A0-CF44-72669143F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1D0A-D341-4FA4-AF6B-839F14EF5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230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3DCC6-6CA3-76ED-9950-C396190F6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DBC2C-EECA-6E3F-01BA-D6CC2D5E7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CCB1D-9B85-7012-5CDB-B35C8A3F1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8AF6-67B1-400C-AC3D-E9E3C4CD545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121D5-77B1-C584-0F87-4669EC1F1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3AD42-3DE6-ECBE-966C-B524C759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1D0A-D341-4FA4-AF6B-839F14EF5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80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7BC50-3B33-D4AB-C756-04F0F88EA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C1A95-6ABC-BCC1-986F-179BBBCD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C15CF-25C7-1CD8-1904-CBE647AFB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8AF6-67B1-400C-AC3D-E9E3C4CD545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83498-7DD7-BB8A-79DB-5D1C9E4F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6995D-A084-EDD9-F9C1-BB971412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1D0A-D341-4FA4-AF6B-839F14EF5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010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425F0-0384-C1DE-2FE3-18ECA5720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6C91C-95CD-4B44-99EE-27E069A0C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5C5E1-74DD-668C-C417-55D92A6EE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C3778-0165-59CC-857B-BCAAA6079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8AF6-67B1-400C-AC3D-E9E3C4CD545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72894-C592-BA03-FF7C-64EE41FF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EF8C8-C3BF-B978-5725-9DE23428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1D0A-D341-4FA4-AF6B-839F14EF5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098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93D21-727C-654C-5904-D03AEA651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3240F-4D74-6CEF-0B9D-AC06B4298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6F04C-7810-ABAD-0660-5675A6C32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10E19E-5E50-4152-932B-D54E256AE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5893E1-7B27-2D49-D0A5-F45E20C58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1D21EE-5180-C80E-3B03-5C2D2FE4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8AF6-67B1-400C-AC3D-E9E3C4CD545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B51E37-5BCE-58E4-7C3F-EC6FBD986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5CF641-631B-BAC7-B9D5-51EF0AC95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1D0A-D341-4FA4-AF6B-839F14EF5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177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14027-F284-CD52-D8E0-55FDC2BA0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680CF-460D-9564-E5FE-3606DFFCE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8AF6-67B1-400C-AC3D-E9E3C4CD545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1B03F5-579D-DF6D-4A03-911B637BB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DEAF13-155C-EEAE-78D2-228E6FCF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1D0A-D341-4FA4-AF6B-839F14EF5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258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300581-0965-5668-1545-6EF24E28D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8AF6-67B1-400C-AC3D-E9E3C4CD545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CAB336-D2B4-74A2-A9CB-97BE67098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8D212-F951-B3C1-759D-23A300B1F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1D0A-D341-4FA4-AF6B-839F14EF5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738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A79-D37B-9A87-A921-483AFAD3C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B8F80-3B30-84ED-B458-5FBC29B69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D3935-DE1C-514F-D7C9-D9A29A1C08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C2919-2206-859C-D491-637F97410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8AF6-67B1-400C-AC3D-E9E3C4CD545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DC941-703F-E915-0370-340442A67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A746B-E958-396F-5DD7-31927ECE1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1D0A-D341-4FA4-AF6B-839F14EF5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830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1675A-97E6-5AA8-6179-DCA9B9544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919283-44E2-10FE-8781-92E3AD4294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7E046-43E9-A5AD-562F-1F28402C1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389B8-2D05-39C8-DB43-6D08B42CB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8AF6-67B1-400C-AC3D-E9E3C4CD545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44FD6-4444-739F-FA96-89AF98BF6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85DB1-EC8A-2A16-B96C-073C5A62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1D0A-D341-4FA4-AF6B-839F14EF5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131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3B25-F5C4-B9E4-5C3E-4B6E233EA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9DD591-A3E5-F3C8-739E-5E16760BC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1346B-13B1-B5CE-BB37-97423163E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8AF6-67B1-400C-AC3D-E9E3C4CD545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561B7-EEC2-82B3-63A5-AB984121D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2AB13-1738-FAAD-2C1D-6C4ED2F8C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1D0A-D341-4FA4-AF6B-839F14EF5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074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8E0AAB-833B-F68B-CAE6-232CE007A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F92F4-A933-A77F-0678-9AAB76B2E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3ED26-FDC5-CBC1-B83E-D90DB384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8AF6-67B1-400C-AC3D-E9E3C4CD545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39B85-E6B0-0F4D-B485-8833FC5A2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88A86-37FF-5B60-A819-E8A7E904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31D0A-D341-4FA4-AF6B-839F14EF5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782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1F0B87-49BD-C6AC-2CCA-E6BE0531A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B264B-8811-7A58-AF9A-D9A9EE43B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6C21D-9123-7AD5-E05C-A2B29101C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198AF6-67B1-400C-AC3D-E9E3C4CD545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6FD08-74CB-D2ED-7FBB-494779C8C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E9B32-ABB0-B472-637A-C9AA466CA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31D0A-D341-4FA4-AF6B-839F14EF5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775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vm_logo.png">
            <a:extLst>
              <a:ext uri="{FF2B5EF4-FFF2-40B4-BE49-F238E27FC236}">
                <a16:creationId xmlns:a16="http://schemas.microsoft.com/office/drawing/2014/main" id="{E4C47673-9646-975E-5220-9A4576C51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599"/>
            <a:ext cx="1273630" cy="636815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D1567239-639D-BE0A-6F56-3B9B7C2E9498}"/>
              </a:ext>
            </a:extLst>
          </p:cNvPr>
          <p:cNvSpPr/>
          <p:nvPr/>
        </p:nvSpPr>
        <p:spPr>
          <a:xfrm>
            <a:off x="1920240" y="228600"/>
            <a:ext cx="0" cy="68580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FB328934-20C3-5243-10DF-CD142B7E3EC5}"/>
              </a:ext>
            </a:extLst>
          </p:cNvPr>
          <p:cNvSpPr txBox="1"/>
          <p:nvPr/>
        </p:nvSpPr>
        <p:spPr>
          <a:xfrm>
            <a:off x="2176272" y="179614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0253D2"/>
                </a:solidFill>
                <a:latin typeface="Calibri"/>
                <a:ea typeface="Calibri"/>
                <a:cs typeface="Calibri"/>
              </a:rPr>
              <a:t>Resource Based Databricks Data Engineer</a:t>
            </a:r>
            <a:endParaRPr lang="en-US" sz="220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7F2D3D62-FA8E-EC69-F2E5-EE5F4D31FECC}"/>
              </a:ext>
            </a:extLst>
          </p:cNvPr>
          <p:cNvSpPr/>
          <p:nvPr/>
        </p:nvSpPr>
        <p:spPr>
          <a:xfrm>
            <a:off x="320040" y="1051560"/>
            <a:ext cx="115488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CF943EFC-6F65-713C-5F82-C4D56E5ADB74}"/>
              </a:ext>
            </a:extLst>
          </p:cNvPr>
          <p:cNvSpPr txBox="1"/>
          <p:nvPr/>
        </p:nvSpPr>
        <p:spPr>
          <a:xfrm>
            <a:off x="320040" y="1234439"/>
            <a:ext cx="2743200" cy="1005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5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Harshini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25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Mummareddy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F1E31B0E-5C22-445C-96D4-047F710FC6F8}"/>
              </a:ext>
            </a:extLst>
          </p:cNvPr>
          <p:cNvSpPr txBox="1"/>
          <p:nvPr/>
        </p:nvSpPr>
        <p:spPr>
          <a:xfrm>
            <a:off x="304800" y="1901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Databricks</a:t>
            </a:r>
          </a:p>
          <a:p>
            <a:pPr marL="0" indent="0">
              <a:buNone/>
            </a:pPr>
            <a:r>
              <a:rPr lang="en-US" sz="1300" b="1" i="1" dirty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Data Engineer</a:t>
            </a:r>
            <a:endParaRPr lang="en-US" sz="1300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37B62438-D8D0-4095-DB6A-1308E0809291}"/>
              </a:ext>
            </a:extLst>
          </p:cNvPr>
          <p:cNvSpPr/>
          <p:nvPr/>
        </p:nvSpPr>
        <p:spPr>
          <a:xfrm>
            <a:off x="2362200" y="1254759"/>
            <a:ext cx="4498848" cy="519356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62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2B818FD1-FE78-9FE2-08BF-B898088A2D71}"/>
              </a:ext>
            </a:extLst>
          </p:cNvPr>
          <p:cNvSpPr txBox="1"/>
          <p:nvPr/>
        </p:nvSpPr>
        <p:spPr>
          <a:xfrm>
            <a:off x="2372868" y="1272971"/>
            <a:ext cx="4279392" cy="33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0253D2"/>
                </a:solidFill>
                <a:latin typeface="Calibri"/>
                <a:ea typeface="Calibri"/>
                <a:cs typeface="Calibri"/>
              </a:rPr>
              <a:t>    SUMMARY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8309367C-78FD-288A-0298-AB7D866CFA40}"/>
              </a:ext>
            </a:extLst>
          </p:cNvPr>
          <p:cNvSpPr/>
          <p:nvPr/>
        </p:nvSpPr>
        <p:spPr>
          <a:xfrm>
            <a:off x="2496312" y="1691640"/>
            <a:ext cx="4197096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F24D3471-5B7A-6469-823A-CA02E539AAE2}"/>
              </a:ext>
            </a:extLst>
          </p:cNvPr>
          <p:cNvSpPr txBox="1"/>
          <p:nvPr/>
        </p:nvSpPr>
        <p:spPr>
          <a:xfrm>
            <a:off x="2498344" y="1759348"/>
            <a:ext cx="4361688" cy="4667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just">
              <a:buFont typeface="Arial"/>
              <a:buChar char="•"/>
            </a:pPr>
            <a:r>
              <a:rPr lang="en-US" sz="1100" dirty="0">
                <a:ea typeface="+mn-lt"/>
                <a:cs typeface="+mn-lt"/>
              </a:rPr>
              <a:t>Data Engineer with 6+ years of experience in Azure Databricks, Azure Data Factory (ADF), and cloud-based data engineering solutions. </a:t>
            </a:r>
          </a:p>
          <a:p>
            <a:pPr marL="171450" indent="-171450" algn="just">
              <a:buFont typeface="Arial"/>
              <a:buChar char="•"/>
            </a:pPr>
            <a:r>
              <a:rPr lang="en-IN" sz="1100" dirty="0"/>
              <a:t>Architected end-to-end data integration and transformation pipelines using Azure Data Factory, Databricks, </a:t>
            </a:r>
            <a:r>
              <a:rPr lang="en-IN" sz="1100" dirty="0" err="1"/>
              <a:t>PySpark</a:t>
            </a:r>
            <a:r>
              <a:rPr lang="en-IN" sz="1100" dirty="0"/>
              <a:t>, and SQL to efficiently consolidate data from various sources into Azure Data Lake Storage Gen2 for downstream analytics.</a:t>
            </a:r>
          </a:p>
          <a:p>
            <a:pPr marL="171450" indent="-171450" algn="just">
              <a:buFont typeface="Arial"/>
              <a:buChar char="•"/>
            </a:pPr>
            <a:r>
              <a:rPr lang="en-IN" sz="1100" dirty="0"/>
              <a:t>Engineered automated data ingestion pipelines to collect and process data from Oracle databases and Azure Data Lake Storage (ADLS Gen2), ensuring reliable and timely data delivery by reducing manual intervention.</a:t>
            </a:r>
          </a:p>
          <a:p>
            <a:pPr marL="171450" indent="-171450" algn="just">
              <a:buFont typeface="Arial"/>
              <a:buChar char="•"/>
            </a:pPr>
            <a:r>
              <a:rPr lang="en-IN" sz="1100" dirty="0"/>
              <a:t>Implemented a Medallion Architecture using Delta Lake, </a:t>
            </a:r>
            <a:r>
              <a:rPr lang="en-IN" sz="1100" dirty="0" err="1"/>
              <a:t>PySpark</a:t>
            </a:r>
            <a:r>
              <a:rPr lang="en-IN" sz="1100" dirty="0"/>
              <a:t>, and Delta Live Tables (DLT) to transform raw data into curated, analytics-ready datasets while improving data quality, reliability, and governance.</a:t>
            </a:r>
          </a:p>
          <a:p>
            <a:pPr marL="171450" indent="-171450" algn="just">
              <a:buFont typeface="Arial"/>
              <a:buChar char="•"/>
            </a:pPr>
            <a:r>
              <a:rPr lang="en-IN" sz="1100" dirty="0"/>
              <a:t>Designed and optimized incremental data loading and transformation processes using </a:t>
            </a:r>
            <a:r>
              <a:rPr lang="en-IN" sz="1100" dirty="0" err="1"/>
              <a:t>PySpark</a:t>
            </a:r>
            <a:r>
              <a:rPr lang="en-IN" sz="1100" dirty="0"/>
              <a:t> and Delta Lake, enabling efficient processing of large-scale datasets while improving pipeline performance and scalability.</a:t>
            </a:r>
          </a:p>
          <a:p>
            <a:pPr marL="171450" indent="-171450" algn="just">
              <a:buFont typeface="Arial"/>
              <a:buChar char="•"/>
            </a:pPr>
            <a:r>
              <a:rPr lang="en-IN" sz="1100" dirty="0"/>
              <a:t>Led and mentored a team of 3 junior Data Engineers, providing technical guidance on Databricks, </a:t>
            </a:r>
            <a:r>
              <a:rPr lang="en-IN" sz="1100" dirty="0" err="1"/>
              <a:t>PySpark</a:t>
            </a:r>
            <a:r>
              <a:rPr lang="en-IN" sz="1100" dirty="0"/>
              <a:t>, and ADF development while ensuring timely delivery of data engineering solutions.</a:t>
            </a:r>
          </a:p>
          <a:p>
            <a:pPr marL="171450" indent="-171450" algn="just">
              <a:buFont typeface="Arial"/>
              <a:buChar char="•"/>
            </a:pPr>
            <a:r>
              <a:rPr lang="en-IN" sz="1100" dirty="0"/>
              <a:t>Enabled secure, scalable, and monitored cloud-based data platforms through ADF orchestration, Databricks integration, and automated deployment practices, supporting enterprise analytics and reporting requirements.</a:t>
            </a:r>
            <a:endParaRPr lang="en-US" sz="1100" dirty="0">
              <a:ea typeface="+mn-lt"/>
              <a:cs typeface="+mn-lt"/>
            </a:endParaRPr>
          </a:p>
          <a:p>
            <a:pPr algn="just"/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101639F8-74CD-3F0A-F6FD-E1226F0B2A7E}"/>
              </a:ext>
            </a:extLst>
          </p:cNvPr>
          <p:cNvSpPr/>
          <p:nvPr/>
        </p:nvSpPr>
        <p:spPr>
          <a:xfrm>
            <a:off x="7076440" y="1264920"/>
            <a:ext cx="4820920" cy="371855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62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E8DBEDA3-031B-DA01-FBE6-6CC1E3D98B49}"/>
              </a:ext>
            </a:extLst>
          </p:cNvPr>
          <p:cNvSpPr txBox="1"/>
          <p:nvPr/>
        </p:nvSpPr>
        <p:spPr>
          <a:xfrm>
            <a:off x="7251192" y="1371600"/>
            <a:ext cx="4471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5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30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E77C906F-2530-1483-27F2-862200A43B6B}"/>
              </a:ext>
            </a:extLst>
          </p:cNvPr>
          <p:cNvSpPr/>
          <p:nvPr/>
        </p:nvSpPr>
        <p:spPr>
          <a:xfrm>
            <a:off x="7251192" y="1691640"/>
            <a:ext cx="4471416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725A760E-A66F-32F0-9CA5-66FE1660E0AD}"/>
              </a:ext>
            </a:extLst>
          </p:cNvPr>
          <p:cNvSpPr txBox="1"/>
          <p:nvPr/>
        </p:nvSpPr>
        <p:spPr>
          <a:xfrm>
            <a:off x="7251192" y="1828800"/>
            <a:ext cx="4471416" cy="287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IN" sz="100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C9400C06-CA41-9B74-7912-59ABC4BB1576}"/>
              </a:ext>
            </a:extLst>
          </p:cNvPr>
          <p:cNvSpPr/>
          <p:nvPr/>
        </p:nvSpPr>
        <p:spPr>
          <a:xfrm>
            <a:off x="7076440" y="5086912"/>
            <a:ext cx="4831080" cy="135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62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628DC848-E5F8-1E08-582D-62B84DED9BD7}"/>
              </a:ext>
            </a:extLst>
          </p:cNvPr>
          <p:cNvSpPr txBox="1"/>
          <p:nvPr/>
        </p:nvSpPr>
        <p:spPr>
          <a:xfrm>
            <a:off x="7251192" y="5232055"/>
            <a:ext cx="44714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25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CERTIFICATIONS</a:t>
            </a:r>
            <a:endParaRPr lang="en-US" sz="1100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072A2916-C4C8-DA04-F88D-EC02EF005AE9}"/>
              </a:ext>
            </a:extLst>
          </p:cNvPr>
          <p:cNvSpPr txBox="1"/>
          <p:nvPr/>
        </p:nvSpPr>
        <p:spPr>
          <a:xfrm>
            <a:off x="7086600" y="5571399"/>
            <a:ext cx="4638040" cy="84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100" dirty="0" err="1"/>
              <a:t>Btech</a:t>
            </a:r>
            <a:r>
              <a:rPr lang="en-US" sz="1100" dirty="0"/>
              <a:t> in Computer Science and Engineering from GITAM University Visakhapatnam</a:t>
            </a:r>
          </a:p>
          <a:p>
            <a:pPr>
              <a:buSzPct val="100000"/>
            </a:pPr>
            <a:endParaRPr lang="en-US" sz="120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100" dirty="0" err="1"/>
              <a:t>Mtech</a:t>
            </a:r>
            <a:r>
              <a:rPr lang="en-US" sz="1100" dirty="0"/>
              <a:t> in Artificial Intelligence and Machine Learning from BITS Pilani</a:t>
            </a:r>
            <a:endParaRPr lang="en-IN" sz="1100" dirty="0"/>
          </a:p>
          <a:p>
            <a:pPr>
              <a:buSzPct val="100000"/>
            </a:pPr>
            <a:endParaRPr lang="en-US" sz="1200" dirty="0"/>
          </a:p>
          <a:p>
            <a:pPr>
              <a:buSzPct val="100000"/>
            </a:pPr>
            <a:endParaRPr lang="en-IN" sz="1100" dirty="0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E7ADA4EB-81EB-B456-38CB-2B17890339B2}"/>
              </a:ext>
            </a:extLst>
          </p:cNvPr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253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2B88F50D-93FC-5A9C-F5DA-B622793A6952}"/>
              </a:ext>
            </a:extLst>
          </p:cNvPr>
          <p:cNvSpPr txBox="1"/>
          <p:nvPr/>
        </p:nvSpPr>
        <p:spPr>
          <a:xfrm>
            <a:off x="32004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© ValueMomentum. All Rights Reserved</a:t>
            </a:r>
            <a:endParaRPr lang="en-US" sz="80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7E2C7A82-D5D9-1F20-07BD-CCC9DF7F970F}"/>
              </a:ext>
            </a:extLst>
          </p:cNvPr>
          <p:cNvSpPr txBox="1"/>
          <p:nvPr/>
        </p:nvSpPr>
        <p:spPr>
          <a:xfrm>
            <a:off x="7251192" y="1758552"/>
            <a:ext cx="4471416" cy="2987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/>
              <a:buChar char="•"/>
            </a:pPr>
            <a:endParaRPr lang="en-US" sz="1050" dirty="0">
              <a:ea typeface="+mn-lt"/>
              <a:cs typeface="+mn-lt"/>
            </a:endParaRPr>
          </a:p>
          <a:p>
            <a:pPr marL="171450" indent="-171450" defTabSz="137160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00">
                    <a:lumMod val="75000"/>
                    <a:lumOff val="25000"/>
                  </a:srgbClr>
                </a:solidFill>
                <a:ea typeface="Calibri" panose="020F0502020204030204" pitchFamily="34" charset="0"/>
                <a:cs typeface="Dubai bold" panose="020B0803030403030204" pitchFamily="34" charset="-78"/>
              </a:rPr>
              <a:t>Azure Databricks </a:t>
            </a:r>
          </a:p>
          <a:p>
            <a:pPr marL="171450" indent="-171450" defTabSz="137160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00">
                    <a:lumMod val="75000"/>
                    <a:lumOff val="25000"/>
                  </a:srgbClr>
                </a:solidFill>
                <a:ea typeface="Calibri" panose="020F0502020204030204" pitchFamily="34" charset="0"/>
                <a:cs typeface="Dubai bold" panose="020B0803030403030204" pitchFamily="34" charset="-78"/>
              </a:rPr>
              <a:t>Azure Data Factory </a:t>
            </a:r>
          </a:p>
          <a:p>
            <a:pPr marL="171450" indent="-171450" defTabSz="137160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00">
                    <a:lumMod val="75000"/>
                    <a:lumOff val="25000"/>
                  </a:srgbClr>
                </a:solidFill>
                <a:ea typeface="Calibri" panose="020F0502020204030204" pitchFamily="34" charset="0"/>
                <a:cs typeface="Dubai bold" panose="020B0803030403030204" pitchFamily="34" charset="-78"/>
              </a:rPr>
              <a:t>Delta Live Tables </a:t>
            </a:r>
          </a:p>
          <a:p>
            <a:pPr marL="171450" indent="-171450" defTabSz="1371600">
              <a:buFont typeface="Arial" panose="020B0604020202020204" pitchFamily="34" charset="0"/>
              <a:buChar char="•"/>
              <a:defRPr/>
            </a:pPr>
            <a:r>
              <a:rPr lang="en-US" sz="1400" dirty="0" err="1">
                <a:solidFill>
                  <a:srgbClr val="000000">
                    <a:lumMod val="75000"/>
                    <a:lumOff val="25000"/>
                  </a:srgbClr>
                </a:solidFill>
                <a:ea typeface="Calibri" panose="020F0502020204030204" pitchFamily="34" charset="0"/>
                <a:cs typeface="Dubai bold" panose="020B0803030403030204" pitchFamily="34" charset="-78"/>
              </a:rPr>
              <a:t>PySpark</a:t>
            </a:r>
            <a:endParaRPr lang="en-US" sz="1400" dirty="0">
              <a:solidFill>
                <a:srgbClr val="000000">
                  <a:lumMod val="75000"/>
                  <a:lumOff val="25000"/>
                </a:srgbClr>
              </a:solidFill>
              <a:ea typeface="Calibri" panose="020F0502020204030204" pitchFamily="34" charset="0"/>
              <a:cs typeface="Dubai bold" panose="020B0803030403030204" pitchFamily="34" charset="-78"/>
            </a:endParaRPr>
          </a:p>
          <a:p>
            <a:pPr marL="171450" indent="-171450" defTabSz="137160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00">
                    <a:lumMod val="75000"/>
                    <a:lumOff val="25000"/>
                  </a:srgbClr>
                </a:solidFill>
                <a:ea typeface="Calibri" panose="020F0502020204030204" pitchFamily="34" charset="0"/>
                <a:cs typeface="Dubai bold" panose="020B0803030403030204" pitchFamily="34" charset="-78"/>
              </a:rPr>
              <a:t>Python</a:t>
            </a:r>
          </a:p>
          <a:p>
            <a:pPr marL="171450" indent="-171450" defTabSz="137160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00">
                    <a:lumMod val="75000"/>
                    <a:lumOff val="25000"/>
                  </a:srgbClr>
                </a:solidFill>
                <a:ea typeface="Calibri" panose="020F0502020204030204" pitchFamily="34" charset="0"/>
                <a:cs typeface="Dubai bold" panose="020B0803030403030204" pitchFamily="34" charset="-78"/>
              </a:rPr>
              <a:t>ADLS Gen2</a:t>
            </a:r>
          </a:p>
          <a:p>
            <a:pPr marL="171450" indent="-171450" defTabSz="137160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00">
                    <a:lumMod val="75000"/>
                    <a:lumOff val="25000"/>
                  </a:srgbClr>
                </a:solidFill>
                <a:ea typeface="Calibri" panose="020F0502020204030204" pitchFamily="34" charset="0"/>
                <a:cs typeface="Dubai bold" panose="020B0803030403030204" pitchFamily="34" charset="-78"/>
              </a:rPr>
              <a:t>SQL</a:t>
            </a:r>
          </a:p>
          <a:p>
            <a:pPr marL="171450" indent="-171450" defTabSz="137160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00">
                    <a:lumMod val="75000"/>
                    <a:lumOff val="25000"/>
                  </a:srgbClr>
                </a:solidFill>
                <a:ea typeface="Calibri" panose="020F0502020204030204" pitchFamily="34" charset="0"/>
                <a:cs typeface="Dubai bold" panose="020B0803030403030204" pitchFamily="34" charset="-78"/>
              </a:rPr>
              <a:t>Data Validation and Analysis</a:t>
            </a:r>
          </a:p>
          <a:p>
            <a:pPr marL="171450" indent="-171450" defTabSz="137160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00">
                    <a:lumMod val="75000"/>
                    <a:lumOff val="25000"/>
                  </a:srgbClr>
                </a:solidFill>
                <a:ea typeface="Calibri" panose="020F0502020204030204" pitchFamily="34" charset="0"/>
                <a:cs typeface="Dubai bold" panose="020B0803030403030204" pitchFamily="34" charset="-78"/>
              </a:rPr>
              <a:t>Delta Lake</a:t>
            </a:r>
          </a:p>
          <a:p>
            <a:pPr marL="171450" indent="-171450" defTabSz="137160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00">
                    <a:lumMod val="75000"/>
                    <a:lumOff val="25000"/>
                  </a:srgbClr>
                </a:solidFill>
                <a:ea typeface="Calibri" panose="020F0502020204030204" pitchFamily="34" charset="0"/>
                <a:cs typeface="Dubai bold" panose="020B0803030403030204" pitchFamily="34" charset="-78"/>
              </a:rPr>
              <a:t>Azure DevOps.</a:t>
            </a:r>
            <a:endParaRPr lang="en-US" sz="1050" dirty="0">
              <a:ea typeface="+mn-lt"/>
              <a:cs typeface="+mn-lt"/>
            </a:endParaRPr>
          </a:p>
          <a:p>
            <a:pPr>
              <a:lnSpc>
                <a:spcPts val="1200"/>
              </a:lnSpc>
              <a:spcAft>
                <a:spcPts val="1000"/>
              </a:spcAft>
              <a:buSzPct val="100000"/>
            </a:pPr>
            <a:endParaRPr lang="en-US" sz="1050" dirty="0">
              <a:solidFill>
                <a:srgbClr val="333333"/>
              </a:solidFill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0BEA33-C4EC-BCC0-20D6-9A86325F0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489564"/>
            <a:ext cx="1682750" cy="210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88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Srinivasa Bhargav Pothineni</dc:creator>
  <cp:lastModifiedBy>Harshini Mummareddy</cp:lastModifiedBy>
  <cp:revision>4</cp:revision>
  <dcterms:created xsi:type="dcterms:W3CDTF">2026-10-05T12:50:07Z</dcterms:created>
  <dcterms:modified xsi:type="dcterms:W3CDTF">2026-10-06T11:01:06Z</dcterms:modified>
</cp:coreProperties>
</file>